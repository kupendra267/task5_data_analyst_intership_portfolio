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8B1D6-8F4A-11AC-D0A8-194675807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D5BB98-A4EA-BE84-25BE-9665035E0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27D77-83E9-9FD2-81AE-5DAD041E9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F578F-1937-48FF-8C19-6AC7C172917F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0CA24-5CB2-26BC-357B-B659D2844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B9407-1AC7-4B55-ED01-EFB6EC2A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8FD0-1DC1-4E3B-A397-44D5854547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890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51F50-ED33-007F-D8FD-C0912ABF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AA2E3-CBDD-CD10-7FD4-E1F4F4314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8963E-0761-2C41-AB6F-894704ADB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F578F-1937-48FF-8C19-6AC7C172917F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F8DDF-6631-3C5A-EFAD-3EE329B98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DE1EE-1F7B-5B1D-840A-85AA5BAE9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8FD0-1DC1-4E3B-A397-44D5854547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214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163C4-7991-2CBE-609A-460DE4E36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608C8-2E05-98B8-E799-86A149107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50181-8AAE-457D-1D39-F867DEC1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F578F-1937-48FF-8C19-6AC7C172917F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C26A8-A841-2DD5-7228-1AED47154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D6D35-387C-0E6A-BA76-FFEE024EA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8FD0-1DC1-4E3B-A397-44D5854547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17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F19D4-DFB2-33D6-5292-8B359E3EE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E6463-8A00-ED87-C049-5BF65A8D53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7D410E-5B50-2827-254B-C018EAFDB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CAA45-B40D-7CB2-F73D-A38FF2E33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F578F-1937-48FF-8C19-6AC7C172917F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668242-6E35-7187-A578-5B7512A6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9FCE4-F0F9-CEC7-664C-36DAE4D4D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8FD0-1DC1-4E3B-A397-44D5854547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309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781F8-45C7-CB3D-EB07-8633CF2C6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A401E-3BCD-4FB0-B923-A481513C0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1418F9-7CD0-9F0D-51F8-D2E2FD8E3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0B355A-05C6-AD8B-0CB6-D60209E6BA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9B895F-4BB1-99FE-6319-D6D7BD6370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1209FD-523E-310E-6C48-AE808E1DE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F578F-1937-48FF-8C19-6AC7C172917F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6E2E72-E10D-5AD4-D150-C096F8B72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E9E298-442B-79A9-4D3F-7864BFC52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8FD0-1DC1-4E3B-A397-44D5854547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00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BB80D-418E-1E13-9AF5-F0A01CD69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88B2BC-DEC3-B171-563B-E68F5FCE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F578F-1937-48FF-8C19-6AC7C172917F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512B4A-9444-732D-A994-F1A7DFC2C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F40CF5-4A45-00D5-7E35-7400C5FCC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8FD0-1DC1-4E3B-A397-44D5854547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787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549C2E-67CB-331F-06D1-2B9680BD5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F578F-1937-48FF-8C19-6AC7C172917F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3DE47D-7288-A186-2BF1-3E82CFA31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022F2-ADAA-88AE-BA54-D39E578A3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8FD0-1DC1-4E3B-A397-44D5854547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022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FCDB0-A1DA-288D-8B03-870C9363D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56A6E-C1EB-A98C-9639-B8E231B61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E1237D-1ADA-E00D-74D5-C58602E47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DE49A-C9E0-4FDF-6D70-AEBCB51D7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F578F-1937-48FF-8C19-6AC7C172917F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6806D5-5C7A-1B7F-EEC9-796E1970E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5781D-3045-4798-D1E5-3EF732B7E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8FD0-1DC1-4E3B-A397-44D5854547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401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924B-01AB-B5DC-37FF-4DC48A7FE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EA2294-6A46-5E6F-C5DF-322C084110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F32496-A544-9F4B-A13B-89736AABE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5D765-08E8-A868-6F2D-D763A0A5B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F578F-1937-48FF-8C19-6AC7C172917F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47B47-EE60-6F9D-0BE2-2AA49F717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4E6BB-61F3-743A-B60A-90F5E2495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8FD0-1DC1-4E3B-A397-44D5854547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391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AE8BA-14B8-11D8-3AF9-62BE5D759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C97575-655D-DFED-56B9-AF728725CD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69A95-FB6F-DF20-BD2D-5EC8578E0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F578F-1937-48FF-8C19-6AC7C172917F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4158B-7943-5F54-8914-CFF36C1EC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EDA34-07B8-64D6-D3A9-649B4A9D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8FD0-1DC1-4E3B-A397-44D5854547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7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E8D33F-F5B4-DA49-F491-1D5B7413E3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905C2A-C776-014F-D667-BA8429A4E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EB8FF-D89A-259C-35EC-E5234C32C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F578F-1937-48FF-8C19-6AC7C172917F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10CC6-64EE-C1A4-0A61-42F907A34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12C53-48BA-766F-E3FD-70F736A1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8FD0-1DC1-4E3B-A397-44D5854547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128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52D6F5-7C45-32EA-8CDE-F16561165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23CFB-1529-1832-7D00-4BA8DE55A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5E2FE-13CC-CC7E-072A-D13CC3F73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F578F-1937-48FF-8C19-6AC7C172917F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64C51-4567-370C-0237-C0975930EA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E5C8D-9158-1C45-6557-1F8F246E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18FD0-1DC1-4E3B-A397-44D5854547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884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90AB6-D0B6-A88B-07B5-A48EDE9632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400" b="1" dirty="0"/>
              <a:t>Data Storytelling &amp; Statistical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5D0D52-C0BF-1462-12C8-98CE4EC5BC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Online Retail Analysis</a:t>
            </a:r>
          </a:p>
          <a:p>
            <a:r>
              <a:rPr lang="en-IN" dirty="0"/>
              <a:t>J Kupendra Reddy</a:t>
            </a:r>
          </a:p>
        </p:txBody>
      </p:sp>
    </p:spTree>
    <p:extLst>
      <p:ext uri="{BB962C8B-B14F-4D97-AF65-F5344CB8AC3E}">
        <p14:creationId xmlns:p14="http://schemas.microsoft.com/office/powerpoint/2010/main" val="1157342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B304F-3D3F-C08E-0F0D-6DE508DFC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A52B8-EDE6-BD48-47F6-579749619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080" y="160210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 Analyze retail sales data  </a:t>
            </a:r>
          </a:p>
          <a:p>
            <a:pPr marL="0" indent="0">
              <a:buNone/>
            </a:pPr>
            <a:r>
              <a:rPr lang="en-US" dirty="0"/>
              <a:t>•  Identify key revenue drivers  </a:t>
            </a:r>
          </a:p>
          <a:p>
            <a:pPr marL="0" indent="0">
              <a:buNone/>
            </a:pPr>
            <a:r>
              <a:rPr lang="en-US" dirty="0"/>
              <a:t>•  Understand customer behavior  </a:t>
            </a:r>
          </a:p>
          <a:p>
            <a:pPr marL="0" indent="0">
              <a:buNone/>
            </a:pPr>
            <a:r>
              <a:rPr lang="en-US" dirty="0"/>
              <a:t>•  Provide business recommendations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7995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FA313-31A5-450F-B2E7-A799493A9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EDF78-75F6-37B7-215E-5D44C61FA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206" y="1825625"/>
            <a:ext cx="10193594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• </a:t>
            </a:r>
            <a:r>
              <a:rPr lang="en-US" sz="2400" b="1" dirty="0"/>
              <a:t>Online Retail Dataset  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• </a:t>
            </a:r>
            <a:r>
              <a:rPr lang="en-US" sz="2400" b="1" dirty="0"/>
              <a:t>Key Features:</a:t>
            </a:r>
          </a:p>
          <a:p>
            <a:pPr marL="0" indent="0">
              <a:buNone/>
            </a:pPr>
            <a:r>
              <a:rPr lang="en-US" sz="2400" dirty="0"/>
              <a:t>   Country  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CustomerID</a:t>
            </a:r>
            <a:r>
              <a:rPr lang="en-US" sz="2400" dirty="0"/>
              <a:t>  </a:t>
            </a:r>
          </a:p>
          <a:p>
            <a:pPr marL="0" indent="0">
              <a:buNone/>
            </a:pPr>
            <a:r>
              <a:rPr lang="en-US" sz="2400" dirty="0"/>
              <a:t>   Quantity  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UnitPrice</a:t>
            </a:r>
            <a:r>
              <a:rPr lang="en-US" sz="2400" dirty="0"/>
              <a:t>  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InvoiceDate</a:t>
            </a:r>
            <a:r>
              <a:rPr lang="en-US" sz="2400" dirty="0"/>
              <a:t>  </a:t>
            </a:r>
          </a:p>
          <a:p>
            <a:pPr marL="0" indent="0">
              <a:buNone/>
            </a:pPr>
            <a:r>
              <a:rPr lang="en-US" sz="2400" dirty="0"/>
              <a:t>• </a:t>
            </a:r>
            <a:r>
              <a:rPr lang="en-US" sz="2400" b="1" dirty="0"/>
              <a:t>Created Feature:</a:t>
            </a:r>
          </a:p>
          <a:p>
            <a:pPr marL="0" indent="0">
              <a:buNone/>
            </a:pPr>
            <a:r>
              <a:rPr lang="en-US" sz="2400" dirty="0"/>
              <a:t>   Sales = Quantity × </a:t>
            </a:r>
            <a:r>
              <a:rPr lang="en-US" sz="2400" dirty="0" err="1"/>
              <a:t>UnitPrice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84215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4D547-AE0E-6E26-D258-88A2D78DD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Analysis Performed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16366-D242-EEAD-BFE9-3DAE0CB65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• Country-wise sales analysis  </a:t>
            </a:r>
          </a:p>
          <a:p>
            <a:pPr marL="0" indent="0">
              <a:buNone/>
            </a:pPr>
            <a:r>
              <a:rPr lang="en-US" sz="2400" dirty="0"/>
              <a:t>• Top product analysis  </a:t>
            </a:r>
          </a:p>
          <a:p>
            <a:pPr marL="0" indent="0">
              <a:buNone/>
            </a:pPr>
            <a:r>
              <a:rPr lang="en-US" sz="2400" dirty="0"/>
              <a:t>• Monthly sales trends  </a:t>
            </a:r>
          </a:p>
          <a:p>
            <a:pPr marL="0" indent="0">
              <a:buNone/>
            </a:pPr>
            <a:r>
              <a:rPr lang="en-US" sz="2400" dirty="0"/>
              <a:t>• Customer contribution analysis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56288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074B0-C5E1-EFBD-57EB-A85E8C907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Top Countries by Sales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953B5E-AD42-3010-20A2-A133FE8629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60" y="1338273"/>
            <a:ext cx="8702676" cy="4351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1858D8-6F40-88E1-4C3E-D26E0B908E86}"/>
              </a:ext>
            </a:extLst>
          </p:cNvPr>
          <p:cNvSpPr txBox="1"/>
          <p:nvPr/>
        </p:nvSpPr>
        <p:spPr>
          <a:xfrm>
            <a:off x="2367280" y="6014720"/>
            <a:ext cx="695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United Kingdom dominates overall sales performance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304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0C553-6861-3909-A431-7F1E4AC7A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FCF21-266B-A237-38A8-A52CB8E87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sz="2400" dirty="0"/>
              <a:t>•</a:t>
            </a:r>
            <a:r>
              <a:rPr lang="en-US" dirty="0"/>
              <a:t> </a:t>
            </a:r>
            <a:r>
              <a:rPr lang="en-US" sz="2400" dirty="0"/>
              <a:t>United Kingdom generates highest sales  </a:t>
            </a:r>
          </a:p>
          <a:p>
            <a:pPr marL="0" indent="0">
              <a:buNone/>
            </a:pPr>
            <a:r>
              <a:rPr lang="en-US" sz="2400" dirty="0"/>
              <a:t>• Few products dominate total revenue  </a:t>
            </a:r>
          </a:p>
          <a:p>
            <a:pPr marL="0" indent="0">
              <a:buNone/>
            </a:pPr>
            <a:r>
              <a:rPr lang="en-US" sz="2400" dirty="0"/>
              <a:t>• Sales show monthly fluctuations  </a:t>
            </a:r>
          </a:p>
          <a:p>
            <a:pPr marL="0" indent="0">
              <a:buNone/>
            </a:pPr>
            <a:r>
              <a:rPr lang="en-US" sz="2400" dirty="0"/>
              <a:t>• Small group of customers drives majority revenue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24552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CF2E-0899-2D8A-1668-D9578265F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D077-59C0-6107-E295-F5358D27A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High dependency on </a:t>
            </a:r>
            <a:r>
              <a:rPr lang="en-US" b="1" dirty="0"/>
              <a:t>limited countries  </a:t>
            </a:r>
          </a:p>
          <a:p>
            <a:pPr marL="0" indent="0">
              <a:buNone/>
            </a:pPr>
            <a:r>
              <a:rPr lang="en-US" dirty="0"/>
              <a:t>• Revenue concentrated among </a:t>
            </a:r>
            <a:r>
              <a:rPr lang="en-US" b="1" dirty="0"/>
              <a:t>few customers  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Uneven sales distribution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0353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C4E9C-6D96-B25D-2D53-0807B9375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F4373-9A5E-B397-212B-6DC00D878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        High-value customers spend more than low-value customers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0190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90A9F-BE2A-A4BD-E864-98FC315C6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Statistical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AB115-9901-610F-B321-2C1F4F64E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Test Used: Independent T-Test  </a:t>
            </a:r>
          </a:p>
          <a:p>
            <a:pPr marL="0" indent="0">
              <a:buNone/>
            </a:pPr>
            <a:r>
              <a:rPr lang="en-US" dirty="0"/>
              <a:t>• Significance Level: 0.05  </a:t>
            </a:r>
          </a:p>
          <a:p>
            <a:pPr marL="0" indent="0">
              <a:buNone/>
            </a:pPr>
            <a:r>
              <a:rPr lang="en-US" dirty="0"/>
              <a:t>• P-Value: 8.73e-38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5037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968B7-9C42-DBA2-3DFE-FEA54F65D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91506-DA59-EDAF-F901-F1E23ED99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• Reject Null Hypothesis  </a:t>
            </a:r>
          </a:p>
          <a:p>
            <a:pPr marL="0" indent="0">
              <a:buNone/>
            </a:pPr>
            <a:r>
              <a:rPr lang="en-US" dirty="0"/>
              <a:t>• High-value customers spend significantly more than low-value customers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4243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AE386-EE24-A221-809D-C56DC0FB0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AC75C-41A4-81F8-9809-8E7B2BC69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Focus on high-value customers  </a:t>
            </a:r>
          </a:p>
          <a:p>
            <a:pPr marL="0" indent="0">
              <a:buNone/>
            </a:pPr>
            <a:r>
              <a:rPr lang="en-US" dirty="0"/>
              <a:t>• Expand business to new countries  </a:t>
            </a:r>
          </a:p>
          <a:p>
            <a:pPr marL="0" indent="0">
              <a:buNone/>
            </a:pPr>
            <a:r>
              <a:rPr lang="en-US" dirty="0"/>
              <a:t>• Promote top-selling products  </a:t>
            </a:r>
          </a:p>
          <a:p>
            <a:pPr marL="0" indent="0">
              <a:buNone/>
            </a:pPr>
            <a:r>
              <a:rPr lang="en-US" dirty="0"/>
              <a:t>• Apply seasonal marketing strategies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6844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85722-6A01-C07D-EEDD-051FCB3AA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387A5-4CB2-E641-2BD9-71B168918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• Data-driven insights improve decision making  </a:t>
            </a:r>
          </a:p>
          <a:p>
            <a:pPr marL="0" indent="0">
              <a:buNone/>
            </a:pPr>
            <a:r>
              <a:rPr lang="en-US" dirty="0"/>
              <a:t>• Statistical validation strengthens analysis  </a:t>
            </a:r>
          </a:p>
          <a:p>
            <a:pPr marL="0" indent="0">
              <a:buNone/>
            </a:pPr>
            <a:r>
              <a:rPr lang="en-US" dirty="0"/>
              <a:t>• Business can increase revenue using insights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0104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214</Words>
  <Application>Microsoft Office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Data Storytelling &amp; Statistical Validation</vt:lpstr>
      <vt:lpstr>Objective</vt:lpstr>
      <vt:lpstr>Dataset Overview</vt:lpstr>
      <vt:lpstr>Analysis Performed</vt:lpstr>
      <vt:lpstr>Top Countries by Sales</vt:lpstr>
      <vt:lpstr>Key Insights</vt:lpstr>
      <vt:lpstr>Business Problems</vt:lpstr>
      <vt:lpstr>Hypothesis</vt:lpstr>
      <vt:lpstr>Statistical Test</vt:lpstr>
      <vt:lpstr>Result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kupendra reddy</dc:creator>
  <cp:lastModifiedBy>kupendra reddy</cp:lastModifiedBy>
  <cp:revision>1</cp:revision>
  <dcterms:created xsi:type="dcterms:W3CDTF">2026-05-04T10:25:50Z</dcterms:created>
  <dcterms:modified xsi:type="dcterms:W3CDTF">2026-05-04T10:50:14Z</dcterms:modified>
</cp:coreProperties>
</file>